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0" r:id="rId1"/>
  </p:sldMasterIdLst>
  <p:notesMasterIdLst>
    <p:notesMasterId r:id="rId20"/>
  </p:notesMasterIdLst>
  <p:sldIdLst>
    <p:sldId id="256" r:id="rId2"/>
    <p:sldId id="258" r:id="rId3"/>
    <p:sldId id="262" r:id="rId4"/>
    <p:sldId id="263" r:id="rId5"/>
    <p:sldId id="264" r:id="rId6"/>
    <p:sldId id="265" r:id="rId7"/>
    <p:sldId id="266" r:id="rId8"/>
    <p:sldId id="267" r:id="rId9"/>
    <p:sldId id="268" r:id="rId10"/>
    <p:sldId id="269" r:id="rId11"/>
    <p:sldId id="270" r:id="rId12"/>
    <p:sldId id="271" r:id="rId13"/>
    <p:sldId id="273" r:id="rId14"/>
    <p:sldId id="276" r:id="rId15"/>
    <p:sldId id="278" r:id="rId16"/>
    <p:sldId id="274" r:id="rId17"/>
    <p:sldId id="275" r:id="rId18"/>
    <p:sldId id="277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67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F3AFEE-0D62-4E1A-81BB-F03074D9A900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DA4DC5-EFC2-4D48-A00D-7947138187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22715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90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5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80A9A-7414-4F9C-950D-7EC4902CF636}" type="datetime1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077431" y="271896"/>
            <a:ext cx="551167" cy="365125"/>
          </a:xfrm>
        </p:spPr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19590046-DA73-4BBF-84B5-C08E6F75191A}" type="slidenum">
              <a:rPr lang="en-US" smtClean="0"/>
              <a:pPr/>
              <a:t>‹#›</a:t>
            </a:fld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45181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5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08380-1CF0-4357-963C-A67274A34762}" type="datetime1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391466" y="332220"/>
            <a:ext cx="551167" cy="365125"/>
          </a:xfrm>
        </p:spPr>
        <p:txBody>
          <a:bodyPr/>
          <a:lstStyle/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16731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72EAB-E40C-42CE-966B-8C52E44C7019}" type="datetime1">
              <a:rPr lang="en-US" smtClean="0"/>
              <a:t>11/10/2025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221378" y="427037"/>
            <a:ext cx="551167" cy="365125"/>
          </a:xfrm>
        </p:spPr>
        <p:txBody>
          <a:bodyPr/>
          <a:lstStyle/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24976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BC113B62-A549-43F9-9FB3-586149549B58}" type="datetime1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97515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58A0F-CF00-4A1A-868B-F5FA0124D298}" type="datetime1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33213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090A68-39F9-469D-B9A7-21499030F4C4}" type="datetime1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88014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6F828-4266-4ED7-9A26-8CCF30C7BB44}" type="datetime1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09481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F47B0-6EBF-4CC6-894B-6DA8526203E0}" type="datetime1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51897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18F36-401E-4E7B-8FB9-FF468BC8B4C2}" type="datetime1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84226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9C71F-DA49-4406-9A94-B0AD03283199}" type="datetime1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5157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FDB988-32D8-4413-B336-EAC1AB8EDD02}" type="datetime1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33855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6C126-256D-43E7-ABC8-220ADD2A07A9}" type="datetime1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31865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D99D33-72A4-73AD-F0C1-9F0EE131BE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4597879-45D0-3464-301C-32FA517133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091DA-FC8A-4A90-B024-9CB607A0DC8A}" type="datetime1">
              <a:rPr lang="en-US" smtClean="0"/>
              <a:t>11/10/2025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BFCA0-585E-0D28-2EE6-7C532A90DF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F620F4-3BE4-7345-1D13-ACE1EC0011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241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AE0AF55A-459F-41C1-B94E-E4E51A712C66}" type="datetime1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11159" y="601033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175910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01" r:id="rId1"/>
    <p:sldLayoutId id="2147483802" r:id="rId2"/>
    <p:sldLayoutId id="2147483805" r:id="rId3"/>
    <p:sldLayoutId id="2147483809" r:id="rId4"/>
    <p:sldLayoutId id="2147483810" r:id="rId5"/>
    <p:sldLayoutId id="2147483811" r:id="rId6"/>
    <p:sldLayoutId id="2147483812" r:id="rId7"/>
    <p:sldLayoutId id="2147483813" r:id="rId8"/>
    <p:sldLayoutId id="2147483814" r:id="rId9"/>
    <p:sldLayoutId id="2147483815" r:id="rId10"/>
    <p:sldLayoutId id="2147483816" r:id="rId11"/>
    <p:sldLayoutId id="2147483817" r:id="rId12"/>
    <p:sldLayoutId id="2147483818" r:id="rId13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20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g"/><Relationship Id="rId5" Type="http://schemas.openxmlformats.org/officeDocument/2006/relationships/image" Target="../media/image5.jp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en.wikipedia.org/wiki/MNIST_database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jpg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truck on the road&#10;&#10;AI-generated content may be incorrect.">
            <a:extLst>
              <a:ext uri="{FF2B5EF4-FFF2-40B4-BE49-F238E27FC236}">
                <a16:creationId xmlns:a16="http://schemas.microsoft.com/office/drawing/2014/main" id="{4629E6A6-FC71-B318-354A-7E4917902433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558" b="172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B448BD2-BEAD-A2E9-0B19-CC2321D8B1C5}"/>
              </a:ext>
            </a:extLst>
          </p:cNvPr>
          <p:cNvSpPr txBox="1"/>
          <p:nvPr/>
        </p:nvSpPr>
        <p:spPr>
          <a:xfrm>
            <a:off x="314037" y="1951672"/>
            <a:ext cx="1187794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Fuel delivery Certificate</a:t>
            </a:r>
            <a:endParaRPr lang="en-IN" sz="9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A62181-DF77-90CE-3DD5-8BD3BC8B1D8C}"/>
              </a:ext>
            </a:extLst>
          </p:cNvPr>
          <p:cNvSpPr txBox="1"/>
          <p:nvPr/>
        </p:nvSpPr>
        <p:spPr>
          <a:xfrm>
            <a:off x="5147035" y="4760536"/>
            <a:ext cx="6278252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</a:p>
          <a:p>
            <a:pPr algn="ctr"/>
            <a:r>
              <a:rPr lang="en-GB" sz="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Pradeep Mandapati</a:t>
            </a:r>
            <a:endParaRPr lang="en-IN" sz="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0500F2C-8125-A7A4-A6C4-33FE34B21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>
                <a:effectLst>
                  <a:outerShdw blurRad="50800" dist="38100" dir="2700000" sx="128000" sy="128000" algn="tl" rotWithShape="0">
                    <a:srgbClr val="FF0000"/>
                  </a:outerShdw>
                </a:effectLst>
              </a:rPr>
              <a:t>1</a:t>
            </a:fld>
            <a:endParaRPr lang="en-US" dirty="0">
              <a:effectLst>
                <a:outerShdw blurRad="50800" dist="38100" dir="2700000" sx="128000" sy="128000" algn="tl" rotWithShape="0">
                  <a:srgbClr val="FF0000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0982720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truck on the road&#10;&#10;AI-generated content may be incorrect.">
            <a:extLst>
              <a:ext uri="{FF2B5EF4-FFF2-40B4-BE49-F238E27FC236}">
                <a16:creationId xmlns:a16="http://schemas.microsoft.com/office/drawing/2014/main" id="{3889283A-808A-8218-A9EB-0AFD1C28CFA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558" b="172"/>
          <a:stretch>
            <a:fillRect/>
          </a:stretch>
        </p:blipFill>
        <p:spPr>
          <a:xfrm>
            <a:off x="0" y="-114290"/>
            <a:ext cx="12191980" cy="6857990"/>
          </a:xfrm>
          <a:prstGeom prst="rect">
            <a:avLst/>
          </a:prstGeom>
          <a:effectLst>
            <a:outerShdw blurRad="50800" dist="50800" dir="5400000" algn="ctr" rotWithShape="0">
              <a:srgbClr val="000000"/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C1D532E-CFE9-525C-98DA-63CAE0C91C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725" y="114300"/>
            <a:ext cx="9905998" cy="140360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Agenda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E7CF0D8-8786-BEED-E025-B3E7958E7ED7}"/>
              </a:ext>
            </a:extLst>
          </p:cNvPr>
          <p:cNvSpPr txBox="1"/>
          <p:nvPr/>
        </p:nvSpPr>
        <p:spPr>
          <a:xfrm>
            <a:off x="208725" y="3328426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342900" indent="-34290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Char char="•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Fuel Delivery Certificate</a:t>
            </a:r>
          </a:p>
          <a:p>
            <a:pPr marL="342900" indent="-34290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Char char="•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Veeder-Root Reading</a:t>
            </a:r>
          </a:p>
          <a:p>
            <a:pPr marL="342900" indent="-34290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Char char="•"/>
            </a:pPr>
            <a:r>
              <a:rPr lang="en-GB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marL="342900" indent="-34290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Char char="•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MNIST Data Set</a:t>
            </a:r>
          </a:p>
          <a:p>
            <a:pPr marL="342900" indent="-34290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Char char="•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</a:t>
            </a:r>
          </a:p>
          <a:p>
            <a:pPr marL="342900" indent="-34290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Char char="•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Navie Bayes Classifier</a:t>
            </a:r>
          </a:p>
          <a:p>
            <a:pPr marL="342900" indent="-34290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Char char="•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Gaussian classifier</a:t>
            </a:r>
          </a:p>
          <a:p>
            <a:pPr marL="342900" indent="-34290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Char char="•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 Nearest Neighbours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Char char="•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marL="342900" indent="-34290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Char char="•"/>
            </a:pPr>
            <a:r>
              <a:rPr lang="en-GB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Questions</a:t>
            </a:r>
          </a:p>
          <a:p>
            <a:pPr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</a:pPr>
            <a:br>
              <a:rPr lang="en-GB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500" cap="small" dirty="0">
              <a:gradFill flip="none" rotWithShape="1">
                <a:gsLst>
                  <a:gs pos="0">
                    <a:schemeClr val="tx1"/>
                  </a:gs>
                  <a:gs pos="100000">
                    <a:schemeClr val="tx1">
                      <a:lumMod val="75000"/>
                    </a:schemeClr>
                  </a:gs>
                </a:gsLst>
                <a:lin ang="5580000" scaled="0"/>
                <a:tileRect/>
              </a:gradFill>
              <a:effectLst>
                <a:glow rad="38100">
                  <a:schemeClr val="bg1">
                    <a:lumMod val="50000"/>
                    <a:lumOff val="50000"/>
                    <a:alpha val="20000"/>
                  </a:scheme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Char char="•"/>
            </a:pPr>
            <a:endParaRPr lang="en-US" sz="2500" cap="small" dirty="0">
              <a:gradFill flip="none" rotWithShape="1">
                <a:gsLst>
                  <a:gs pos="0">
                    <a:schemeClr val="tx1"/>
                  </a:gs>
                  <a:gs pos="100000">
                    <a:schemeClr val="tx1">
                      <a:lumMod val="75000"/>
                    </a:schemeClr>
                  </a:gs>
                </a:gsLst>
                <a:lin ang="5580000" scaled="0"/>
                <a:tileRect/>
              </a:gradFill>
              <a:effectLst>
                <a:glow rad="38100">
                  <a:schemeClr val="bg1">
                    <a:lumMod val="50000"/>
                    <a:lumOff val="50000"/>
                    <a:alpha val="20000"/>
                  </a:scheme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Char char="•"/>
            </a:pPr>
            <a:endParaRPr lang="en-US" sz="2500" cap="small" dirty="0">
              <a:gradFill flip="none" rotWithShape="1">
                <a:gsLst>
                  <a:gs pos="0">
                    <a:schemeClr val="tx1"/>
                  </a:gs>
                  <a:gs pos="100000">
                    <a:schemeClr val="tx1">
                      <a:lumMod val="75000"/>
                    </a:schemeClr>
                  </a:gs>
                </a:gsLst>
                <a:lin ang="5580000" scaled="0"/>
                <a:tileRect/>
              </a:gradFill>
              <a:effectLst>
                <a:glow rad="38100">
                  <a:schemeClr val="bg1">
                    <a:lumMod val="50000"/>
                    <a:lumOff val="50000"/>
                    <a:alpha val="20000"/>
                  </a:scheme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E44223-B22B-364A-01CC-1779FB750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18100" y="633539"/>
            <a:ext cx="551167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19590046-DA73-4BBF-84B5-C08E6F75191A}" type="slidenum">
              <a:rPr lang="en-US">
                <a:solidFill>
                  <a:prstClr val="white">
                    <a:lumMod val="75000"/>
                  </a:prstClr>
                </a:solidFill>
              </a:rPr>
              <a:pPr defTabSz="914400">
                <a:spcAft>
                  <a:spcPts val="600"/>
                </a:spcAft>
              </a:pPr>
              <a:t>2</a:t>
            </a:fld>
            <a:endParaRPr lang="en-US" dirty="0">
              <a:solidFill>
                <a:prstClr val="white">
                  <a:lumMod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73235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E70C7AC-6CC9-BF13-6E43-82051A2CDD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truck on the road&#10;&#10;AI-generated content may be incorrect.">
            <a:extLst>
              <a:ext uri="{FF2B5EF4-FFF2-40B4-BE49-F238E27FC236}">
                <a16:creationId xmlns:a16="http://schemas.microsoft.com/office/drawing/2014/main" id="{575D7CA0-D95A-0D0E-5DF2-B1558F7E429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558" b="172"/>
          <a:stretch>
            <a:fillRect/>
          </a:stretch>
        </p:blipFill>
        <p:spPr>
          <a:xfrm>
            <a:off x="0" y="-114290"/>
            <a:ext cx="12191980" cy="6857990"/>
          </a:xfrm>
          <a:prstGeom prst="rect">
            <a:avLst/>
          </a:prstGeom>
          <a:effectLst>
            <a:outerShdw blurRad="50800" dist="50800" dir="5400000" algn="ctr" rotWithShape="0">
              <a:srgbClr val="000000"/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1AE5FE0-21F2-7A38-CFD0-1E9D876592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725" y="114300"/>
            <a:ext cx="9905998" cy="1403604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n-GB" dirty="0"/>
              <a:t>Fuel Delivery Certificate</a:t>
            </a:r>
            <a:br>
              <a:rPr lang="en-GB" dirty="0"/>
            </a:b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9685F83-130B-85A0-AC05-440D406C1056}"/>
              </a:ext>
            </a:extLst>
          </p:cNvPr>
          <p:cNvSpPr txBox="1"/>
          <p:nvPr/>
        </p:nvSpPr>
        <p:spPr>
          <a:xfrm>
            <a:off x="0" y="1574726"/>
            <a:ext cx="7485166" cy="34790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mandatory to fill a fuel delivery certificate as per the law in UK.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contains all the information about: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Supplier and customer details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Identification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Quantity Delivered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 and time of Delivery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Safety &amp; Regulatory Compliance Information</a:t>
            </a:r>
            <a:endParaRPr lang="en-GB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GB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IN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4BFDF8-A0B5-56A5-3530-8263AAE657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2108" y="386245"/>
            <a:ext cx="551167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19590046-DA73-4BBF-84B5-C08E6F75191A}" type="slidenum">
              <a:rPr lang="en-US">
                <a:solidFill>
                  <a:prstClr val="white">
                    <a:lumMod val="75000"/>
                  </a:prstClr>
                </a:solidFill>
              </a:rPr>
              <a:pPr defTabSz="914400">
                <a:spcAft>
                  <a:spcPts val="600"/>
                </a:spcAft>
              </a:pPr>
              <a:t>3</a:t>
            </a:fld>
            <a:endParaRPr lang="en-US" dirty="0">
              <a:solidFill>
                <a:prstClr val="white">
                  <a:lumMod val="75000"/>
                </a:prst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C0EB78D-F54A-F573-B9EC-BA93363D37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4533" y="779781"/>
            <a:ext cx="4248742" cy="5992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31347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137EE3-E979-C5EA-DB7E-5B2F58A3FC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truck on the road&#10;&#10;AI-generated content may be incorrect.">
            <a:extLst>
              <a:ext uri="{FF2B5EF4-FFF2-40B4-BE49-F238E27FC236}">
                <a16:creationId xmlns:a16="http://schemas.microsoft.com/office/drawing/2014/main" id="{18449197-A522-23DA-AD73-44DEEEE9BAE7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558" b="172"/>
          <a:stretch>
            <a:fillRect/>
          </a:stretch>
        </p:blipFill>
        <p:spPr>
          <a:xfrm>
            <a:off x="0" y="-114290"/>
            <a:ext cx="12191980" cy="6857990"/>
          </a:xfrm>
          <a:prstGeom prst="rect">
            <a:avLst/>
          </a:prstGeom>
          <a:effectLst>
            <a:outerShdw blurRad="50800" dist="50800" dir="5400000" algn="ctr" rotWithShape="0">
              <a:srgbClr val="000000"/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9C1BCBA-B96B-9358-E2AA-FB55AFF6AE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725" y="114300"/>
            <a:ext cx="9905998" cy="1403604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n-GB" sz="5400" dirty="0"/>
              <a:t>Quantity Delivered</a:t>
            </a:r>
            <a:br>
              <a:rPr lang="en-GB" dirty="0"/>
            </a:b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071E22-586B-DA5D-BC03-51C2C5213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88944" y="108374"/>
            <a:ext cx="551167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19590046-DA73-4BBF-84B5-C08E6F75191A}" type="slidenum">
              <a:rPr lang="en-US">
                <a:solidFill>
                  <a:prstClr val="white">
                    <a:lumMod val="75000"/>
                  </a:prstClr>
                </a:solidFill>
              </a:rPr>
              <a:pPr defTabSz="914400">
                <a:spcAft>
                  <a:spcPts val="600"/>
                </a:spcAft>
              </a:pPr>
              <a:t>4</a:t>
            </a:fld>
            <a:endParaRPr lang="en-US" dirty="0">
              <a:solidFill>
                <a:prstClr val="white">
                  <a:lumMod val="75000"/>
                </a:prstClr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74EA443-DB5E-0552-9AAD-5CF2523582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1043" y="467573"/>
            <a:ext cx="4625741" cy="323878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8D2D2EA-D9F1-490E-4CBB-BAA180AA911F}"/>
              </a:ext>
            </a:extLst>
          </p:cNvPr>
          <p:cNvSpPr txBox="1"/>
          <p:nvPr/>
        </p:nvSpPr>
        <p:spPr>
          <a:xfrm>
            <a:off x="501445" y="1828800"/>
            <a:ext cx="4487919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 related to the quantity of the fuel must be filled manually in the certificate.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get this information from Veeder Root available at the station.</a:t>
            </a:r>
            <a:endParaRPr lang="en-IN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 descr="A white machine with a black label&#10;&#10;AI-generated content may be incorrect.">
            <a:extLst>
              <a:ext uri="{FF2B5EF4-FFF2-40B4-BE49-F238E27FC236}">
                <a16:creationId xmlns:a16="http://schemas.microsoft.com/office/drawing/2014/main" id="{5C91CAD7-B7BB-4967-5EB8-0CB1843A490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6753" y="4059627"/>
            <a:ext cx="3554319" cy="2439496"/>
          </a:xfrm>
          <a:prstGeom prst="rect">
            <a:avLst/>
          </a:prstGeom>
        </p:spPr>
      </p:pic>
      <p:pic>
        <p:nvPicPr>
          <p:cNvPr id="12" name="Picture 11" descr="A close-up of a receipt&#10;&#10;AI-generated content may be incorrect.">
            <a:extLst>
              <a:ext uri="{FF2B5EF4-FFF2-40B4-BE49-F238E27FC236}">
                <a16:creationId xmlns:a16="http://schemas.microsoft.com/office/drawing/2014/main" id="{2F4DD2DE-E538-C5FC-CA28-D6CFD8482F1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2691" y="819150"/>
            <a:ext cx="2105025" cy="5924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08846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BFBB4E-797E-CA35-8787-C9E5514F3A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truck on the road&#10;&#10;AI-generated content may be incorrect.">
            <a:extLst>
              <a:ext uri="{FF2B5EF4-FFF2-40B4-BE49-F238E27FC236}">
                <a16:creationId xmlns:a16="http://schemas.microsoft.com/office/drawing/2014/main" id="{AB3EAA38-8959-B791-F6D8-883636B6819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558" b="172"/>
          <a:stretch>
            <a:fillRect/>
          </a:stretch>
        </p:blipFill>
        <p:spPr>
          <a:xfrm>
            <a:off x="0" y="-114290"/>
            <a:ext cx="12191980" cy="6857990"/>
          </a:xfrm>
          <a:prstGeom prst="rect">
            <a:avLst/>
          </a:prstGeom>
          <a:effectLst>
            <a:outerShdw blurRad="50800" dist="50800" dir="5400000" algn="ctr" rotWithShape="0">
              <a:srgbClr val="000000"/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F55466C-86D7-7178-CE32-B90CCD126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725" y="114300"/>
            <a:ext cx="9905998" cy="1403604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n-GB" sz="5400" dirty="0"/>
              <a:t>Problem Statement</a:t>
            </a:r>
            <a:br>
              <a:rPr lang="en-GB" sz="5400" dirty="0"/>
            </a:b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B19ABB-2300-2A12-9297-829B96670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72252" y="360299"/>
            <a:ext cx="551167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19590046-DA73-4BBF-84B5-C08E6F75191A}" type="slidenum">
              <a:rPr lang="en-US">
                <a:solidFill>
                  <a:prstClr val="white">
                    <a:lumMod val="75000"/>
                  </a:prstClr>
                </a:solidFill>
              </a:rPr>
              <a:pPr defTabSz="914400">
                <a:spcAft>
                  <a:spcPts val="600"/>
                </a:spcAft>
              </a:pPr>
              <a:t>5</a:t>
            </a:fld>
            <a:endParaRPr lang="en-US" dirty="0">
              <a:solidFill>
                <a:prstClr val="white">
                  <a:lumMod val="75000"/>
                </a:prstClr>
              </a:solidFill>
            </a:endParaRP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2AC4AD0-32D5-3B85-738C-799D927C538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5776" y="3445442"/>
            <a:ext cx="5664927" cy="3052259"/>
          </a:xfrm>
          <a:prstGeom prst="rect">
            <a:avLst/>
          </a:prstGeom>
        </p:spPr>
      </p:pic>
      <p:sp>
        <p:nvSpPr>
          <p:cNvPr id="9" name="Arrow: Right 8">
            <a:extLst>
              <a:ext uri="{FF2B5EF4-FFF2-40B4-BE49-F238E27FC236}">
                <a16:creationId xmlns:a16="http://schemas.microsoft.com/office/drawing/2014/main" id="{692FBD61-44B0-7365-92D8-A0EDE5AB03AC}"/>
              </a:ext>
            </a:extLst>
          </p:cNvPr>
          <p:cNvSpPr/>
          <p:nvPr/>
        </p:nvSpPr>
        <p:spPr>
          <a:xfrm>
            <a:off x="5230849" y="4573444"/>
            <a:ext cx="933651" cy="1328286"/>
          </a:xfrm>
          <a:prstGeom prst="right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BE666E3-9BF6-A2CB-A9F3-A8D2843856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7820" y="3394908"/>
            <a:ext cx="4625741" cy="323878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6BAEE650-EB4E-956E-6529-58A023902AFE}"/>
              </a:ext>
            </a:extLst>
          </p:cNvPr>
          <p:cNvSpPr txBox="1"/>
          <p:nvPr/>
        </p:nvSpPr>
        <p:spPr>
          <a:xfrm>
            <a:off x="390460" y="1204506"/>
            <a:ext cx="10028158" cy="1246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information from the Veeder Root should be digitalized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automation, It will reduce the chance of error when entering the data into data base.</a:t>
            </a:r>
          </a:p>
        </p:txBody>
      </p:sp>
    </p:spTree>
    <p:extLst>
      <p:ext uri="{BB962C8B-B14F-4D97-AF65-F5344CB8AC3E}">
        <p14:creationId xmlns:p14="http://schemas.microsoft.com/office/powerpoint/2010/main" val="38635588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9451FF7-4800-70E4-D9C5-9C24DA4FF7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truck on the road&#10;&#10;AI-generated content may be incorrect.">
            <a:extLst>
              <a:ext uri="{FF2B5EF4-FFF2-40B4-BE49-F238E27FC236}">
                <a16:creationId xmlns:a16="http://schemas.microsoft.com/office/drawing/2014/main" id="{F465CFD5-FF16-8F9A-55E5-34EDEB3371D3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558" b="172"/>
          <a:stretch>
            <a:fillRect/>
          </a:stretch>
        </p:blipFill>
        <p:spPr>
          <a:xfrm>
            <a:off x="0" y="-114290"/>
            <a:ext cx="12191980" cy="6857990"/>
          </a:xfrm>
          <a:prstGeom prst="rect">
            <a:avLst/>
          </a:prstGeom>
          <a:effectLst>
            <a:outerShdw blurRad="50800" dist="50800" dir="5400000" algn="ctr" rotWithShape="0">
              <a:srgbClr val="000000"/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ADF362-FFE1-3907-45DB-61A083C633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725" y="114300"/>
            <a:ext cx="9905998" cy="140360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MNIST Data Set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DC2A13-AD8B-401A-5D78-E893A30B68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2108" y="520324"/>
            <a:ext cx="551167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19590046-DA73-4BBF-84B5-C08E6F75191A}" type="slidenum">
              <a:rPr lang="en-US">
                <a:solidFill>
                  <a:prstClr val="white">
                    <a:lumMod val="75000"/>
                  </a:prstClr>
                </a:solidFill>
              </a:rPr>
              <a:pPr defTabSz="914400">
                <a:spcAft>
                  <a:spcPts val="600"/>
                </a:spcAft>
              </a:pPr>
              <a:t>6</a:t>
            </a:fld>
            <a:endParaRPr lang="en-US" dirty="0">
              <a:solidFill>
                <a:prstClr val="white">
                  <a:lumMod val="75000"/>
                </a:prst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C21C899-AB9F-5508-F447-CF1461E4B2D2}"/>
              </a:ext>
            </a:extLst>
          </p:cNvPr>
          <p:cNvSpPr txBox="1"/>
          <p:nvPr/>
        </p:nvSpPr>
        <p:spPr>
          <a:xfrm>
            <a:off x="331763" y="1291472"/>
            <a:ext cx="11168939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MNIST(Modified National institute of Standards and Technology) is a large data contains 70,000(60,000 training images and 10,000 testing images) grayscale images of digits 0 to 9.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taken from American census bureau employees(Training data set) and American High School(Test data set) normalized into a 28X28 pixel which introduced grayscale level.</a:t>
            </a:r>
          </a:p>
          <a:p>
            <a:b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Source: </a:t>
            </a:r>
            <a:r>
              <a:rPr lang="en-US" sz="2500" u="sng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https://en.wikipedia.org/wiki/MNIST_database</a:t>
            </a:r>
            <a:endParaRPr lang="en-US" sz="2500" u="sng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b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66743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8AC1A5-3C3B-ECE5-A550-C3085C4A1F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truck on the road&#10;&#10;AI-generated content may be incorrect.">
            <a:extLst>
              <a:ext uri="{FF2B5EF4-FFF2-40B4-BE49-F238E27FC236}">
                <a16:creationId xmlns:a16="http://schemas.microsoft.com/office/drawing/2014/main" id="{6E7BC9F5-8921-52A8-B823-415431E30EA8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558" b="172"/>
          <a:stretch>
            <a:fillRect/>
          </a:stretch>
        </p:blipFill>
        <p:spPr>
          <a:xfrm>
            <a:off x="0" y="-114290"/>
            <a:ext cx="12191980" cy="6857990"/>
          </a:xfrm>
          <a:prstGeom prst="rect">
            <a:avLst/>
          </a:prstGeom>
          <a:effectLst>
            <a:outerShdw blurRad="50800" dist="50800" dir="5400000" algn="ctr" rotWithShape="0">
              <a:srgbClr val="000000"/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0BB814C-1F92-A901-27E6-6775EF1E48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725" y="114300"/>
            <a:ext cx="9905998" cy="140360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Data Visualization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E7C3F4-6823-E43C-9675-692CEE913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25118" y="520324"/>
            <a:ext cx="551167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19590046-DA73-4BBF-84B5-C08E6F75191A}" type="slidenum">
              <a:rPr lang="en-US">
                <a:solidFill>
                  <a:prstClr val="white">
                    <a:lumMod val="75000"/>
                  </a:prstClr>
                </a:solidFill>
              </a:rPr>
              <a:pPr defTabSz="914400">
                <a:spcAft>
                  <a:spcPts val="600"/>
                </a:spcAft>
              </a:pPr>
              <a:t>7</a:t>
            </a:fld>
            <a:endParaRPr lang="en-US" dirty="0">
              <a:solidFill>
                <a:prstClr val="white">
                  <a:lumMod val="75000"/>
                </a:prst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951EAC3-120D-F0A4-0888-1D15615E4BD8}"/>
              </a:ext>
            </a:extLst>
          </p:cNvPr>
          <p:cNvSpPr txBox="1"/>
          <p:nvPr/>
        </p:nvSpPr>
        <p:spPr>
          <a:xfrm>
            <a:off x="331763" y="1291472"/>
            <a:ext cx="11168939" cy="3554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row has a value and its corresponding 28*28-pixel information as a row vector.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second row when visualized according to pixel</a:t>
            </a:r>
          </a:p>
          <a:p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intensity, appears as shown in the image</a:t>
            </a:r>
            <a:b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b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0B02FE-4509-4291-55ED-F6606266D0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95476" y="2695076"/>
            <a:ext cx="3705225" cy="3914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57757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2F679C-11DD-E674-741C-71C8B40435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truck on the road&#10;&#10;AI-generated content may be incorrect.">
            <a:extLst>
              <a:ext uri="{FF2B5EF4-FFF2-40B4-BE49-F238E27FC236}">
                <a16:creationId xmlns:a16="http://schemas.microsoft.com/office/drawing/2014/main" id="{45E253DB-BCF8-A8D5-0C05-1445DB07081B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558" b="172"/>
          <a:stretch>
            <a:fillRect/>
          </a:stretch>
        </p:blipFill>
        <p:spPr>
          <a:xfrm>
            <a:off x="0" y="-114290"/>
            <a:ext cx="12191980" cy="6857990"/>
          </a:xfrm>
          <a:prstGeom prst="rect">
            <a:avLst/>
          </a:prstGeom>
          <a:effectLst>
            <a:outerShdw blurRad="50800" dist="50800" dir="5400000" algn="ctr" rotWithShape="0">
              <a:srgbClr val="000000"/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CD5146C-5909-5852-EA55-02A5D14065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725" y="114300"/>
            <a:ext cx="9905998" cy="140360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Cont.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2736C4-C39D-5607-4916-2276D48C88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4729" y="442477"/>
            <a:ext cx="551167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19590046-DA73-4BBF-84B5-C08E6F75191A}" type="slidenum">
              <a:rPr lang="en-US">
                <a:solidFill>
                  <a:prstClr val="white">
                    <a:lumMod val="75000"/>
                  </a:prstClr>
                </a:solidFill>
              </a:rPr>
              <a:pPr defTabSz="914400">
                <a:spcAft>
                  <a:spcPts val="600"/>
                </a:spcAft>
              </a:pPr>
              <a:t>8</a:t>
            </a:fld>
            <a:endParaRPr lang="en-US" dirty="0">
              <a:solidFill>
                <a:prstClr val="white">
                  <a:lumMod val="75000"/>
                </a:prst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DEEB865-A30E-82B2-1ECE-FD9DF6059A82}"/>
              </a:ext>
            </a:extLst>
          </p:cNvPr>
          <p:cNvSpPr txBox="1"/>
          <p:nvPr/>
        </p:nvSpPr>
        <p:spPr>
          <a:xfrm>
            <a:off x="331763" y="1291472"/>
            <a:ext cx="11168939" cy="20159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visualization of first 30 rows appears as shown in the image</a:t>
            </a:r>
            <a:b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b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E9B5013-65DD-D482-E463-DA784EC643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763" y="2259212"/>
            <a:ext cx="11258550" cy="4438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24131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50B756F-6A82-0E9D-2617-DFC5B62818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truck on the road&#10;&#10;AI-generated content may be incorrect.">
            <a:extLst>
              <a:ext uri="{FF2B5EF4-FFF2-40B4-BE49-F238E27FC236}">
                <a16:creationId xmlns:a16="http://schemas.microsoft.com/office/drawing/2014/main" id="{A79A44F4-3B98-03CE-1D8D-3DF94BCD8DE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558" b="172"/>
          <a:stretch>
            <a:fillRect/>
          </a:stretch>
        </p:blipFill>
        <p:spPr>
          <a:xfrm>
            <a:off x="0" y="-114290"/>
            <a:ext cx="12191980" cy="6857990"/>
          </a:xfrm>
          <a:prstGeom prst="rect">
            <a:avLst/>
          </a:prstGeom>
          <a:effectLst>
            <a:outerShdw blurRad="50800" dist="50800" dir="5400000" algn="ctr" rotWithShape="0">
              <a:srgbClr val="000000"/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CBAF9B6-71E6-195B-88AC-E751BD2E01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725" y="114300"/>
            <a:ext cx="9905998" cy="140360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Cont.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7E94D3-AE8B-71FC-AF12-7C9DED6C5B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25118" y="450977"/>
            <a:ext cx="551167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19590046-DA73-4BBF-84B5-C08E6F75191A}" type="slidenum">
              <a:rPr lang="en-US">
                <a:solidFill>
                  <a:prstClr val="white">
                    <a:lumMod val="75000"/>
                  </a:prstClr>
                </a:solidFill>
              </a:rPr>
              <a:pPr defTabSz="914400">
                <a:spcAft>
                  <a:spcPts val="600"/>
                </a:spcAft>
              </a:pPr>
              <a:t>9</a:t>
            </a:fld>
            <a:endParaRPr lang="en-US" dirty="0">
              <a:solidFill>
                <a:prstClr val="white">
                  <a:lumMod val="75000"/>
                </a:prst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1C06854-0678-5ED7-E815-45B011023E34}"/>
              </a:ext>
            </a:extLst>
          </p:cNvPr>
          <p:cNvSpPr txBox="1"/>
          <p:nvPr/>
        </p:nvSpPr>
        <p:spPr>
          <a:xfrm>
            <a:off x="331763" y="1291472"/>
            <a:ext cx="11168939" cy="20159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visualization of average of the information appears as below:</a:t>
            </a:r>
            <a:b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b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3C61DB7-9C08-05CC-583B-63C8AF11C2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30044" y="2602932"/>
            <a:ext cx="7921853" cy="3836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64728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2DA06DC-14E7-D4D9-4FBD-7D9E3C6DBA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truck on the road&#10;&#10;AI-generated content may be incorrect.">
            <a:extLst>
              <a:ext uri="{FF2B5EF4-FFF2-40B4-BE49-F238E27FC236}">
                <a16:creationId xmlns:a16="http://schemas.microsoft.com/office/drawing/2014/main" id="{4931DFD8-BCF3-07B3-E939-0AA215FEBEC8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558" b="172"/>
          <a:stretch>
            <a:fillRect/>
          </a:stretch>
        </p:blipFill>
        <p:spPr>
          <a:xfrm>
            <a:off x="0" y="-114290"/>
            <a:ext cx="12191980" cy="6857990"/>
          </a:xfrm>
          <a:prstGeom prst="rect">
            <a:avLst/>
          </a:prstGeom>
          <a:effectLst>
            <a:outerShdw blurRad="50800" dist="50800" dir="5400000" algn="ctr" rotWithShape="0">
              <a:srgbClr val="000000"/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814DA1C-1FBE-534A-445F-C878D5DBA2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725" y="114300"/>
            <a:ext cx="9905998" cy="140360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IN" b="1" dirty="0">
                <a:effectLst/>
              </a:rPr>
              <a:t>Navie Bayes Classifier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79BBAA-0598-64ED-0D07-2B4AF96582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2108" y="450977"/>
            <a:ext cx="551167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19590046-DA73-4BBF-84B5-C08E6F75191A}" type="slidenum">
              <a:rPr lang="en-US">
                <a:solidFill>
                  <a:prstClr val="white">
                    <a:lumMod val="75000"/>
                  </a:prstClr>
                </a:solidFill>
              </a:rPr>
              <a:pPr defTabSz="914400">
                <a:spcAft>
                  <a:spcPts val="600"/>
                </a:spcAft>
              </a:pPr>
              <a:t>10</a:t>
            </a:fld>
            <a:endParaRPr lang="en-US" dirty="0">
              <a:solidFill>
                <a:prstClr val="white">
                  <a:lumMod val="75000"/>
                </a:prst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9CB8853-0F5A-600F-D9C1-3527E272BEDC}"/>
              </a:ext>
            </a:extLst>
          </p:cNvPr>
          <p:cNvSpPr txBox="1"/>
          <p:nvPr/>
        </p:nvSpPr>
        <p:spPr>
          <a:xfrm>
            <a:off x="331762" y="1106898"/>
            <a:ext cx="10594855" cy="20159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Confusion Matrix and the accuracy appears as below</a:t>
            </a:r>
            <a:b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Observations:</a:t>
            </a:r>
          </a:p>
          <a:p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91505EB-994F-409C-EBA5-7151B048EE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7136" y="2066277"/>
            <a:ext cx="5353158" cy="473049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6C97228-67DE-99B3-DE96-3B5023F8F4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706" y="2193150"/>
            <a:ext cx="6581775" cy="4476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4922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96A4BA-A30F-6710-BAE3-D8607D57C2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F54D635-E39F-CB23-0862-1308E34D9FE8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0000"/>
          </a:blip>
          <a:stretch>
            <a:fillRect/>
          </a:stretch>
        </p:blipFill>
        <p:spPr>
          <a:xfrm>
            <a:off x="6872748" y="2102696"/>
            <a:ext cx="4795627" cy="423781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9EB3646-F175-D9E6-FDE8-F0A9CBADDC71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>
            <a:off x="208726" y="2124364"/>
            <a:ext cx="6103644" cy="4151538"/>
          </a:xfrm>
          <a:prstGeom prst="rect">
            <a:avLst/>
          </a:prstGeom>
        </p:spPr>
      </p:pic>
      <p:pic>
        <p:nvPicPr>
          <p:cNvPr id="7" name="Picture 6" descr="A truck on the road&#10;&#10;AI-generated content may be incorrect.">
            <a:extLst>
              <a:ext uri="{FF2B5EF4-FFF2-40B4-BE49-F238E27FC236}">
                <a16:creationId xmlns:a16="http://schemas.microsoft.com/office/drawing/2014/main" id="{3FE32D3C-17FB-F1AB-8815-C42870E7F14A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558" b="172"/>
          <a:stretch>
            <a:fillRect/>
          </a:stretch>
        </p:blipFill>
        <p:spPr>
          <a:xfrm>
            <a:off x="0" y="-39595"/>
            <a:ext cx="12191980" cy="6857990"/>
          </a:xfrm>
          <a:prstGeom prst="rect">
            <a:avLst/>
          </a:prstGeom>
          <a:effectLst>
            <a:outerShdw blurRad="50800" dist="50800" dir="5400000" algn="ctr" rotWithShape="0">
              <a:srgbClr val="000000"/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7373935-E51E-3C0A-E9E3-46D90EE649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725" y="114300"/>
            <a:ext cx="9905998" cy="140360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Observations.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9BD57D-8E06-667B-33B5-001574D8E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17208" y="664275"/>
            <a:ext cx="551167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19590046-DA73-4BBF-84B5-C08E6F75191A}" type="slidenum">
              <a:rPr lang="en-US">
                <a:solidFill>
                  <a:prstClr val="white">
                    <a:lumMod val="75000"/>
                  </a:prstClr>
                </a:solidFill>
              </a:rPr>
              <a:pPr defTabSz="914400">
                <a:spcAft>
                  <a:spcPts val="600"/>
                </a:spcAft>
              </a:pPr>
              <a:t>11</a:t>
            </a:fld>
            <a:endParaRPr lang="en-US" dirty="0">
              <a:solidFill>
                <a:prstClr val="white">
                  <a:lumMod val="75000"/>
                </a:prst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CD8C6A9-4393-A0CE-F1C9-235D99DBEFE1}"/>
              </a:ext>
            </a:extLst>
          </p:cNvPr>
          <p:cNvSpPr txBox="1"/>
          <p:nvPr/>
        </p:nvSpPr>
        <p:spPr>
          <a:xfrm>
            <a:off x="208725" y="1393072"/>
            <a:ext cx="11860217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accuracy of the model is 76.82%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 0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identified correctly with an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 of 0.89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In very few cases it was read as 8 or 6  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 1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identified correctly with an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 of 0.95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In very few cases it was read as 8  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 2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identified correctly with an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 of 0.62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In very few cases it was read as 8 or 6 or 3  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 3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identified correctly with an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 of 0.72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In very few cases it was read as 8 or 9 or 2 or 1    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 4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identified correctly with an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 of 0.58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In very few cases it was read as 9    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 5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identified correctly with an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 of 0.52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In very few cases it was read as 8 or 3 or 9    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 6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identified correctly with an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 of 0.93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In very few cases it was read as 8    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 7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identified correctly with an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 of 0.75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In very few cases it was read as 9 or 4    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 8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identified correctly with an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 of 0.71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In very few cases it was read as 9 or 1  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 9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identified correctly with an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 of 0.90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In very few cases it was read as 7 or 4  </a:t>
            </a:r>
          </a:p>
          <a:p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17053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B4E4118-BE0D-7F2D-E8C8-0DF72573C5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truck on the road&#10;&#10;AI-generated content may be incorrect.">
            <a:extLst>
              <a:ext uri="{FF2B5EF4-FFF2-40B4-BE49-F238E27FC236}">
                <a16:creationId xmlns:a16="http://schemas.microsoft.com/office/drawing/2014/main" id="{EC5A83EA-F8E4-E5F1-3B9D-C453C33B7DD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558" b="172"/>
          <a:stretch>
            <a:fillRect/>
          </a:stretch>
        </p:blipFill>
        <p:spPr>
          <a:xfrm>
            <a:off x="0" y="-114290"/>
            <a:ext cx="12191980" cy="6857990"/>
          </a:xfrm>
          <a:prstGeom prst="rect">
            <a:avLst/>
          </a:prstGeom>
          <a:effectLst>
            <a:outerShdw blurRad="50800" dist="50800" dir="5400000" algn="ctr" rotWithShape="0">
              <a:srgbClr val="000000"/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45463EC-F513-B69C-18BC-6836C6B816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725" y="114300"/>
            <a:ext cx="9905998" cy="1403604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n-IN" b="1" dirty="0">
                <a:effectLst/>
              </a:rPr>
              <a:t>Gaussian classifier</a:t>
            </a:r>
            <a:br>
              <a:rPr lang="en-IN" dirty="0">
                <a:effectLst/>
              </a:rPr>
            </a:b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01A470-2E24-4FE8-5008-A2EE43FFE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8684" y="406029"/>
            <a:ext cx="551167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19590046-DA73-4BBF-84B5-C08E6F75191A}" type="slidenum">
              <a:rPr lang="en-US">
                <a:solidFill>
                  <a:prstClr val="white">
                    <a:lumMod val="75000"/>
                  </a:prstClr>
                </a:solidFill>
              </a:rPr>
              <a:pPr defTabSz="914400">
                <a:spcAft>
                  <a:spcPts val="600"/>
                </a:spcAft>
              </a:pPr>
              <a:t>12</a:t>
            </a:fld>
            <a:endParaRPr lang="en-US" dirty="0">
              <a:solidFill>
                <a:prstClr val="white">
                  <a:lumMod val="75000"/>
                </a:prst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A9FADED-A0A8-12B4-CF50-F9A70542A91B}"/>
              </a:ext>
            </a:extLst>
          </p:cNvPr>
          <p:cNvSpPr txBox="1"/>
          <p:nvPr/>
        </p:nvSpPr>
        <p:spPr>
          <a:xfrm>
            <a:off x="208725" y="1032142"/>
            <a:ext cx="11168939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accuracy of the model is 93.06%</a:t>
            </a:r>
          </a:p>
          <a:p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Confusion Matrix and the accuracy appears as below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9ED9AE-CC6F-6E4E-A55B-4169B08649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4112" y="2205139"/>
            <a:ext cx="5009163" cy="442651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BB9D938-B340-FA51-0EEE-790601EF608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8725" y="2180021"/>
            <a:ext cx="6581775" cy="4476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12527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C7BBE6C-942E-33A9-F7BD-427C69A031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truck on the road&#10;&#10;AI-generated content may be incorrect.">
            <a:extLst>
              <a:ext uri="{FF2B5EF4-FFF2-40B4-BE49-F238E27FC236}">
                <a16:creationId xmlns:a16="http://schemas.microsoft.com/office/drawing/2014/main" id="{EBFECA99-1887-CC62-EE87-8BDB0D3EDBC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558" b="172"/>
          <a:stretch>
            <a:fillRect/>
          </a:stretch>
        </p:blipFill>
        <p:spPr>
          <a:xfrm>
            <a:off x="0" y="-104458"/>
            <a:ext cx="12191980" cy="6857990"/>
          </a:xfrm>
          <a:prstGeom prst="rect">
            <a:avLst/>
          </a:prstGeom>
          <a:effectLst>
            <a:outerShdw blurRad="50800" dist="50800" dir="5400000" algn="ctr" rotWithShape="0">
              <a:srgbClr val="000000"/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38DAB9B-36F8-139F-FFA1-6EAADE4A76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725" y="114300"/>
            <a:ext cx="9905998" cy="140360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IN" b="1" dirty="0">
                <a:effectLst/>
              </a:rPr>
              <a:t>K Nearest Neighbours</a:t>
            </a:r>
            <a:r>
              <a:rPr lang="en-US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C4AA0C-470A-C2C7-0E37-ACF5FFAD79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25118" y="337761"/>
            <a:ext cx="551167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19590046-DA73-4BBF-84B5-C08E6F75191A}" type="slidenum">
              <a:rPr lang="en-US">
                <a:solidFill>
                  <a:prstClr val="white">
                    <a:lumMod val="75000"/>
                  </a:prstClr>
                </a:solidFill>
              </a:rPr>
              <a:pPr defTabSz="914400">
                <a:spcAft>
                  <a:spcPts val="600"/>
                </a:spcAft>
              </a:pPr>
              <a:t>13</a:t>
            </a:fld>
            <a:endParaRPr lang="en-US" dirty="0">
              <a:solidFill>
                <a:prstClr val="white">
                  <a:lumMod val="75000"/>
                </a:prst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632B48-BC00-F28A-D26F-DDE3CBD4D9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2134" y="2153676"/>
            <a:ext cx="4834151" cy="433488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576CE28-A67A-BB2B-2459-70993C80196E}"/>
              </a:ext>
            </a:extLst>
          </p:cNvPr>
          <p:cNvSpPr txBox="1"/>
          <p:nvPr/>
        </p:nvSpPr>
        <p:spPr>
          <a:xfrm>
            <a:off x="540773" y="1291902"/>
            <a:ext cx="9026013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accuracy of the model is 96.32%(K=21)</a:t>
            </a:r>
          </a:p>
          <a:p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Confusion Matrix and the accuracy appears as below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1F368C-571C-B3A4-FF0C-AAB58D8483E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9004" y="2153676"/>
            <a:ext cx="6581775" cy="4476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58999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7561DB8-192C-1379-6E4F-47E77DC253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truck on the road&#10;&#10;AI-generated content may be incorrect.">
            <a:extLst>
              <a:ext uri="{FF2B5EF4-FFF2-40B4-BE49-F238E27FC236}">
                <a16:creationId xmlns:a16="http://schemas.microsoft.com/office/drawing/2014/main" id="{D2F12D61-5E7E-94B1-4AFD-5BF5E40B6859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558" b="172"/>
          <a:stretch>
            <a:fillRect/>
          </a:stretch>
        </p:blipFill>
        <p:spPr>
          <a:xfrm>
            <a:off x="0" y="-114290"/>
            <a:ext cx="12191980" cy="6857990"/>
          </a:xfrm>
          <a:prstGeom prst="rect">
            <a:avLst/>
          </a:prstGeom>
          <a:effectLst>
            <a:outerShdw blurRad="50800" dist="50800" dir="5400000" algn="ctr" rotWithShape="0">
              <a:srgbClr val="000000"/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7AFEF60-B89A-5E5C-0679-D85FB499A9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725" y="114300"/>
            <a:ext cx="9905998" cy="140360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Conclusion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F4A0AA-2CCB-25D2-D6C2-99C1279FAD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25118" y="520324"/>
            <a:ext cx="551167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19590046-DA73-4BBF-84B5-C08E6F75191A}" type="slidenum">
              <a:rPr lang="en-US">
                <a:solidFill>
                  <a:prstClr val="white">
                    <a:lumMod val="75000"/>
                  </a:prstClr>
                </a:solidFill>
              </a:rPr>
              <a:pPr defTabSz="914400">
                <a:spcAft>
                  <a:spcPts val="600"/>
                </a:spcAft>
              </a:pPr>
              <a:t>14</a:t>
            </a:fld>
            <a:endParaRPr lang="en-US" dirty="0">
              <a:solidFill>
                <a:prstClr val="white">
                  <a:lumMod val="75000"/>
                </a:prst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F0F166E-8F24-0F10-63C6-8966AFE46D1F}"/>
              </a:ext>
            </a:extLst>
          </p:cNvPr>
          <p:cNvSpPr txBox="1"/>
          <p:nvPr/>
        </p:nvSpPr>
        <p:spPr>
          <a:xfrm>
            <a:off x="105621" y="1029196"/>
            <a:ext cx="12191980" cy="27853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digitalization of fuel certificate can be achieved using MNIST data set.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accuracy of the digitalization depends on the model we choose, and the accuracy of various model is shown below. </a:t>
            </a:r>
            <a:b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b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C15CA3C-FE44-793A-F9E2-48A21B24D7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9980" y="2318702"/>
            <a:ext cx="5562600" cy="4333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30889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123B8EE-FEC6-6821-4E95-B3212F73CE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truck on the road&#10;&#10;AI-generated content may be incorrect.">
            <a:extLst>
              <a:ext uri="{FF2B5EF4-FFF2-40B4-BE49-F238E27FC236}">
                <a16:creationId xmlns:a16="http://schemas.microsoft.com/office/drawing/2014/main" id="{113D75BD-0B74-0579-89FF-86FCAEA7F08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558" b="172"/>
          <a:stretch>
            <a:fillRect/>
          </a:stretch>
        </p:blipFill>
        <p:spPr>
          <a:xfrm>
            <a:off x="0" y="-114290"/>
            <a:ext cx="12191980" cy="6857990"/>
          </a:xfrm>
          <a:prstGeom prst="rect">
            <a:avLst/>
          </a:prstGeom>
          <a:effectLst>
            <a:outerShdw blurRad="50800" dist="50800" dir="5400000" algn="ctr" rotWithShape="0">
              <a:srgbClr val="000000"/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EE7A680-635D-E3E7-625B-6CF05EC1C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725" y="114300"/>
            <a:ext cx="9905998" cy="140360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Cont.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24B0BF-9172-B4E0-4640-E30CA5910B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25118" y="520324"/>
            <a:ext cx="551167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19590046-DA73-4BBF-84B5-C08E6F75191A}" type="slidenum">
              <a:rPr lang="en-US">
                <a:solidFill>
                  <a:prstClr val="white">
                    <a:lumMod val="75000"/>
                  </a:prstClr>
                </a:solidFill>
              </a:rPr>
              <a:pPr defTabSz="914400">
                <a:spcAft>
                  <a:spcPts val="600"/>
                </a:spcAft>
              </a:pPr>
              <a:t>15</a:t>
            </a:fld>
            <a:endParaRPr lang="en-US" dirty="0">
              <a:solidFill>
                <a:prstClr val="white">
                  <a:lumMod val="75000"/>
                </a:prst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6734138-FA37-8E37-FFEC-972C1A455323}"/>
              </a:ext>
            </a:extLst>
          </p:cNvPr>
          <p:cNvSpPr txBox="1"/>
          <p:nvPr/>
        </p:nvSpPr>
        <p:spPr>
          <a:xfrm>
            <a:off x="125941" y="885449"/>
            <a:ext cx="12191980" cy="20159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Accuracy of identifying each digit with every model is as below</a:t>
            </a:r>
            <a:b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b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91E7D20-5229-99CD-BA85-B44F22F12C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5920" y="1816709"/>
            <a:ext cx="8666162" cy="4926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50884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648F8C-C92F-71BE-CA0B-8257740783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truck on the road&#10;&#10;AI-generated content may be incorrect.">
            <a:extLst>
              <a:ext uri="{FF2B5EF4-FFF2-40B4-BE49-F238E27FC236}">
                <a16:creationId xmlns:a16="http://schemas.microsoft.com/office/drawing/2014/main" id="{BEEC1889-CD45-78EC-E594-8245EAC05F48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558" b="172"/>
          <a:stretch>
            <a:fillRect/>
          </a:stretch>
        </p:blipFill>
        <p:spPr>
          <a:xfrm>
            <a:off x="0" y="-114290"/>
            <a:ext cx="12191980" cy="6857990"/>
          </a:xfrm>
          <a:prstGeom prst="rect">
            <a:avLst/>
          </a:prstGeom>
          <a:effectLst>
            <a:outerShdw blurRad="50800" dist="50800" dir="5400000" algn="ctr" rotWithShape="0">
              <a:srgbClr val="000000"/>
            </a:outerShdw>
          </a:effec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D46880-505E-6A2B-9067-A1223D9E0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72380" y="588899"/>
            <a:ext cx="551167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19590046-DA73-4BBF-84B5-C08E6F75191A}" type="slidenum">
              <a:rPr lang="en-US">
                <a:solidFill>
                  <a:prstClr val="white">
                    <a:lumMod val="75000"/>
                  </a:prstClr>
                </a:solidFill>
              </a:rPr>
              <a:pPr defTabSz="914400">
                <a:spcAft>
                  <a:spcPts val="600"/>
                </a:spcAft>
              </a:pPr>
              <a:t>16</a:t>
            </a:fld>
            <a:endParaRPr lang="en-US" dirty="0">
              <a:solidFill>
                <a:prstClr val="white">
                  <a:lumMod val="75000"/>
                </a:prst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D140C8D-2ED9-FB91-B43B-A8E6B4BB646E}"/>
              </a:ext>
            </a:extLst>
          </p:cNvPr>
          <p:cNvSpPr txBox="1"/>
          <p:nvPr/>
        </p:nvSpPr>
        <p:spPr>
          <a:xfrm>
            <a:off x="624371" y="588899"/>
            <a:ext cx="10476445" cy="93918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1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Questions</a:t>
            </a:r>
          </a:p>
          <a:p>
            <a:pPr algn="ctr"/>
            <a:r>
              <a:rPr lang="en-US" sz="1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br>
              <a:rPr lang="en-US" sz="10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br>
              <a:rPr lang="en-US" sz="10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10405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43B51C6-E9EC-AB0D-7FA9-ECE1FEC7A5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truck on the road&#10;&#10;AI-generated content may be incorrect.">
            <a:extLst>
              <a:ext uri="{FF2B5EF4-FFF2-40B4-BE49-F238E27FC236}">
                <a16:creationId xmlns:a16="http://schemas.microsoft.com/office/drawing/2014/main" id="{0F0E210B-48A0-C2CC-DD2A-3B799E3F09F3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558" b="172"/>
          <a:stretch>
            <a:fillRect/>
          </a:stretch>
        </p:blipFill>
        <p:spPr>
          <a:xfrm>
            <a:off x="0" y="-114290"/>
            <a:ext cx="12191980" cy="6857990"/>
          </a:xfrm>
          <a:prstGeom prst="rect">
            <a:avLst/>
          </a:prstGeom>
          <a:effectLst>
            <a:outerShdw blurRad="50800" dist="50800" dir="5400000" algn="ctr" rotWithShape="0">
              <a:srgbClr val="000000"/>
            </a:outerShdw>
          </a:effec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468DF7-46E8-01E8-77D6-FAD7DAF71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9292" y="539252"/>
            <a:ext cx="551167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19590046-DA73-4BBF-84B5-C08E6F75191A}" type="slidenum">
              <a:rPr lang="en-US">
                <a:solidFill>
                  <a:prstClr val="white">
                    <a:lumMod val="75000"/>
                  </a:prstClr>
                </a:solidFill>
              </a:rPr>
              <a:pPr defTabSz="914400">
                <a:spcAft>
                  <a:spcPts val="600"/>
                </a:spcAft>
              </a:pPr>
              <a:t>17</a:t>
            </a:fld>
            <a:endParaRPr lang="en-US" dirty="0">
              <a:solidFill>
                <a:prstClr val="white">
                  <a:lumMod val="75000"/>
                </a:prst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6F667FC-661D-FD69-78B5-63B1CDC59C12}"/>
              </a:ext>
            </a:extLst>
          </p:cNvPr>
          <p:cNvSpPr txBox="1"/>
          <p:nvPr/>
        </p:nvSpPr>
        <p:spPr>
          <a:xfrm>
            <a:off x="511520" y="2288168"/>
            <a:ext cx="11168939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You.</a:t>
            </a:r>
          </a:p>
        </p:txBody>
      </p:sp>
    </p:spTree>
    <p:extLst>
      <p:ext uri="{BB962C8B-B14F-4D97-AF65-F5344CB8AC3E}">
        <p14:creationId xmlns:p14="http://schemas.microsoft.com/office/powerpoint/2010/main" val="23574773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7EF0247-567A-C2D9-0695-6357F0E8A8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truck on the road&#10;&#10;AI-generated content may be incorrect.">
            <a:extLst>
              <a:ext uri="{FF2B5EF4-FFF2-40B4-BE49-F238E27FC236}">
                <a16:creationId xmlns:a16="http://schemas.microsoft.com/office/drawing/2014/main" id="{E54F787C-91CA-1C93-3CDD-9665F8217FD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558" b="172"/>
          <a:stretch>
            <a:fillRect/>
          </a:stretch>
        </p:blipFill>
        <p:spPr>
          <a:xfrm>
            <a:off x="0" y="-114290"/>
            <a:ext cx="12191980" cy="6857990"/>
          </a:xfrm>
          <a:prstGeom prst="rect">
            <a:avLst/>
          </a:prstGeom>
          <a:effectLst>
            <a:outerShdw blurRad="50800" dist="50800" dir="5400000" algn="ctr" rotWithShape="0">
              <a:srgbClr val="000000"/>
            </a:outerShdw>
          </a:effec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9371A5-0209-23AB-27D4-E268ED0E3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9292" y="539252"/>
            <a:ext cx="551167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19590046-DA73-4BBF-84B5-C08E6F75191A}" type="slidenum">
              <a:rPr lang="en-US">
                <a:solidFill>
                  <a:prstClr val="white">
                    <a:lumMod val="75000"/>
                  </a:prstClr>
                </a:solidFill>
              </a:rPr>
              <a:pPr defTabSz="914400">
                <a:spcAft>
                  <a:spcPts val="600"/>
                </a:spcAft>
              </a:pPr>
              <a:t>18</a:t>
            </a:fld>
            <a:endParaRPr lang="en-US" dirty="0">
              <a:solidFill>
                <a:prstClr val="white">
                  <a:lumMod val="75000"/>
                </a:prst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5D86F74-ECE6-45CB-616B-A24AFED14CD6}"/>
              </a:ext>
            </a:extLst>
          </p:cNvPr>
          <p:cNvSpPr txBox="1"/>
          <p:nvPr/>
        </p:nvSpPr>
        <p:spPr>
          <a:xfrm>
            <a:off x="-629022" y="-71264"/>
            <a:ext cx="11168939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Useful Information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F27288A-538B-BFD2-BC61-BF7A97DC27E2}"/>
                  </a:ext>
                </a:extLst>
              </p:cNvPr>
              <p:cNvSpPr txBox="1"/>
              <p:nvPr/>
            </p:nvSpPr>
            <p:spPr>
              <a:xfrm>
                <a:off x="275303" y="1750142"/>
                <a:ext cx="11168939" cy="28169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5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Volume of fuel is function of pressure and Temperature.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5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𝑣𝑜𝑙𝑢𝑚𝑒</m:t>
                      </m:r>
                      <m:r>
                        <a:rPr lang="en-US" sz="25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sz="25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𝑣</m:t>
                      </m:r>
                      <m:r>
                        <a:rPr lang="en-US" sz="25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)∝</m:t>
                      </m:r>
                      <m:f>
                        <m:fPr>
                          <m:ctrlPr>
                            <a:rPr lang="en-US" sz="25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25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𝑇𝑒𝑚𝑝𝑒𝑟𝑎𝑡𝑢𝑟𝑒</m:t>
                          </m:r>
                          <m:r>
                            <a:rPr lang="en-US" sz="25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US" sz="25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𝑇</m:t>
                          </m:r>
                          <m:r>
                            <a:rPr lang="en-US" sz="25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25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𝑃𝑟𝑒𝑠𝑠𝑢𝑟𝑒</m:t>
                          </m:r>
                          <m:r>
                            <a:rPr lang="en-US" sz="25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US" sz="25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𝑃</m:t>
                          </m:r>
                          <m:r>
                            <a:rPr lang="en-US" sz="25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IN" sz="25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IN" sz="25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IN" sz="25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There are 10 classifications here. To avoid ambiguity during KNN, K should not be a multiple of 10. Higher value of K can overfit the model and very low value of K can underfit the model. 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F27288A-538B-BFD2-BC61-BF7A97DC27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303" y="1750142"/>
                <a:ext cx="11168939" cy="2816925"/>
              </a:xfrm>
              <a:prstGeom prst="rect">
                <a:avLst/>
              </a:prstGeom>
              <a:blipFill>
                <a:blip r:embed="rId4"/>
                <a:stretch>
                  <a:fillRect l="-764" t="-1732" r="-1365" b="-411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7278421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sh">
  <a:themeElements>
    <a:clrScheme name="Mesh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esh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esh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TM03457485[[fn=Mesh]]</Template>
  <TotalTime>0</TotalTime>
  <Words>727</Words>
  <Application>Microsoft Office PowerPoint</Application>
  <PresentationFormat>Widescreen</PresentationFormat>
  <Paragraphs>113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Aptos</vt:lpstr>
      <vt:lpstr>Arial</vt:lpstr>
      <vt:lpstr>Cambria Math</vt:lpstr>
      <vt:lpstr>Century Gothic</vt:lpstr>
      <vt:lpstr>Times New Roman</vt:lpstr>
      <vt:lpstr>Mesh</vt:lpstr>
      <vt:lpstr>PowerPoint Presentation</vt:lpstr>
      <vt:lpstr>Agenda</vt:lpstr>
      <vt:lpstr>Fuel Delivery Certificate </vt:lpstr>
      <vt:lpstr>Quantity Delivered </vt:lpstr>
      <vt:lpstr>Problem Statement </vt:lpstr>
      <vt:lpstr>MNIST Data Set</vt:lpstr>
      <vt:lpstr>Data Visualization</vt:lpstr>
      <vt:lpstr>Cont.</vt:lpstr>
      <vt:lpstr>Cont.</vt:lpstr>
      <vt:lpstr>Navie Bayes Classifier</vt:lpstr>
      <vt:lpstr>Observations.</vt:lpstr>
      <vt:lpstr>Gaussian classifier </vt:lpstr>
      <vt:lpstr>K Nearest Neighbours.</vt:lpstr>
      <vt:lpstr>Conclusion</vt:lpstr>
      <vt:lpstr>Cont.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Pradeep Mandapati</dc:creator>
  <cp:lastModifiedBy>Pradeep Mandapati</cp:lastModifiedBy>
  <cp:revision>19</cp:revision>
  <dcterms:created xsi:type="dcterms:W3CDTF">2025-11-09T20:07:48Z</dcterms:created>
  <dcterms:modified xsi:type="dcterms:W3CDTF">2025-11-10T13:20:07Z</dcterms:modified>
</cp:coreProperties>
</file>