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0" r:id="rId1"/>
  </p:sldMasterIdLst>
  <p:notesMasterIdLst>
    <p:notesMasterId r:id="rId20"/>
  </p:notesMasterIdLst>
  <p:sldIdLst>
    <p:sldId id="256" r:id="rId2"/>
    <p:sldId id="258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3" r:id="rId14"/>
    <p:sldId id="276" r:id="rId15"/>
    <p:sldId id="278" r:id="rId16"/>
    <p:sldId id="274" r:id="rId17"/>
    <p:sldId id="275" r:id="rId18"/>
    <p:sldId id="27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67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3AFEE-0D62-4E1A-81BB-F03074D9A900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DA4DC5-EFC2-4D48-A00D-79471381873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2271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90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80A9A-7414-4F9C-950D-7EC4902CF636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077431" y="271896"/>
            <a:ext cx="551167" cy="365125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19590046-DA73-4BBF-84B5-C08E6F75191A}" type="slidenum">
              <a:rPr lang="en-US" smtClean="0"/>
              <a:pPr/>
              <a:t>‹#›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518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5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08380-1CF0-4357-963C-A67274A34762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91466" y="332220"/>
            <a:ext cx="551167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73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72EAB-E40C-42CE-966B-8C52E44C7019}" type="datetime1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221378" y="427037"/>
            <a:ext cx="551167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497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C113B62-A549-43F9-9FB3-586149549B58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751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58A0F-CF00-4A1A-868B-F5FA0124D298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321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90A68-39F9-469D-B9A7-21499030F4C4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6F828-4266-4ED7-9A26-8CCF30C7BB44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48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F47B0-6EBF-4CC6-894B-6DA8526203E0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189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18F36-401E-4E7B-8FB9-FF468BC8B4C2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422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9C71F-DA49-4406-9A94-B0AD03283199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515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DB988-32D8-4413-B336-EAC1AB8EDD02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3855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6C126-256D-43E7-ABC8-220ADD2A07A9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1865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99D33-72A4-73AD-F0C1-9F0EE131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597879-45D0-3464-301C-32FA51713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091DA-FC8A-4A90-B024-9CB607A0DC8A}" type="datetime1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BFCA0-585E-0D28-2EE6-7C532A90D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F620F4-3BE4-7345-1D13-ACE1EC001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4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AE0AF55A-459F-41C1-B94E-E4E51A712C66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11159" y="601033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7591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1" r:id="rId1"/>
    <p:sldLayoutId id="2147483802" r:id="rId2"/>
    <p:sldLayoutId id="2147483805" r:id="rId3"/>
    <p:sldLayoutId id="2147483809" r:id="rId4"/>
    <p:sldLayoutId id="2147483810" r:id="rId5"/>
    <p:sldLayoutId id="2147483811" r:id="rId6"/>
    <p:sldLayoutId id="2147483812" r:id="rId7"/>
    <p:sldLayoutId id="2147483813" r:id="rId8"/>
    <p:sldLayoutId id="2147483814" r:id="rId9"/>
    <p:sldLayoutId id="2147483815" r:id="rId10"/>
    <p:sldLayoutId id="2147483816" r:id="rId11"/>
    <p:sldLayoutId id="2147483817" r:id="rId12"/>
    <p:sldLayoutId id="2147483818" r:id="rId13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MNIST_databas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truck on the road&#10;&#10;AI-generated content may be incorrect.">
            <a:extLst>
              <a:ext uri="{FF2B5EF4-FFF2-40B4-BE49-F238E27FC236}">
                <a16:creationId xmlns:a16="http://schemas.microsoft.com/office/drawing/2014/main" id="{4629E6A6-FC71-B318-354A-7E49179024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448BD2-BEAD-A2E9-0B19-CC2321D8B1C5}"/>
              </a:ext>
            </a:extLst>
          </p:cNvPr>
          <p:cNvSpPr txBox="1"/>
          <p:nvPr/>
        </p:nvSpPr>
        <p:spPr>
          <a:xfrm>
            <a:off x="314037" y="1951672"/>
            <a:ext cx="118779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Fuel delivery Certificate</a:t>
            </a:r>
            <a:endParaRPr lang="en-IN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A62181-DF77-90CE-3DD5-8BD3BC8B1D8C}"/>
              </a:ext>
            </a:extLst>
          </p:cNvPr>
          <p:cNvSpPr txBox="1"/>
          <p:nvPr/>
        </p:nvSpPr>
        <p:spPr>
          <a:xfrm>
            <a:off x="5147035" y="4760536"/>
            <a:ext cx="627825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</a:p>
          <a:p>
            <a:pPr algn="ctr"/>
            <a:r>
              <a:rPr lang="en-GB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Pradeep Mandapati</a:t>
            </a:r>
            <a:endParaRPr lang="en-IN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0500F2C-8125-A7A4-A6C4-33FE34B21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>
                <a:effectLst>
                  <a:outerShdw blurRad="50800" dist="38100" dir="2700000" sx="128000" sy="128000" algn="tl" rotWithShape="0">
                    <a:srgbClr val="FF0000"/>
                  </a:outerShdw>
                </a:effectLst>
              </a:rPr>
              <a:t>1</a:t>
            </a:fld>
            <a:endParaRPr lang="en-US" dirty="0">
              <a:effectLst>
                <a:outerShdw blurRad="50800" dist="38100" dir="2700000" sx="128000" sy="128000" algn="tl" rotWithShape="0">
                  <a:srgbClr val="FF0000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98272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3889283A-808A-8218-A9EB-0AFD1C28CFA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1D532E-CFE9-525C-98DA-63CAE0C91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CF0D8-8786-BEED-E025-B3E7958E7ED7}"/>
              </a:ext>
            </a:extLst>
          </p:cNvPr>
          <p:cNvSpPr txBox="1"/>
          <p:nvPr/>
        </p:nvSpPr>
        <p:spPr>
          <a:xfrm>
            <a:off x="208725" y="3328426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Fuel Delivery Certificate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Veeder-Root Reading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MNIST Data Set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Navie Bayes Classifier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Gaussian classifier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Nearest Neighbours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</a:pPr>
            <a:b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cap="small" dirty="0">
              <a:gradFill flip="none" rotWithShape="1">
                <a:gsLst>
                  <a:gs pos="0">
                    <a:schemeClr val="tx1"/>
                  </a:gs>
                  <a:gs pos="100000">
                    <a:schemeClr val="tx1">
                      <a:lumMod val="75000"/>
                    </a:schemeClr>
                  </a:gs>
                </a:gsLst>
                <a:lin ang="5580000" scaled="0"/>
                <a:tileRect/>
              </a:gra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endParaRPr lang="en-US" sz="2500" cap="small" dirty="0">
              <a:gradFill flip="none" rotWithShape="1">
                <a:gsLst>
                  <a:gs pos="0">
                    <a:schemeClr val="tx1"/>
                  </a:gs>
                  <a:gs pos="100000">
                    <a:schemeClr val="tx1">
                      <a:lumMod val="75000"/>
                    </a:schemeClr>
                  </a:gs>
                </a:gsLst>
                <a:lin ang="5580000" scaled="0"/>
                <a:tileRect/>
              </a:gra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endParaRPr lang="en-US" sz="2500" cap="small" dirty="0">
              <a:gradFill flip="none" rotWithShape="1">
                <a:gsLst>
                  <a:gs pos="0">
                    <a:schemeClr val="tx1"/>
                  </a:gs>
                  <a:gs pos="100000">
                    <a:schemeClr val="tx1">
                      <a:lumMod val="75000"/>
                    </a:schemeClr>
                  </a:gs>
                </a:gsLst>
                <a:lin ang="5580000" scaled="0"/>
                <a:tileRect/>
              </a:gra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44223-B22B-364A-01CC-1779FB750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8100" y="633539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2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7323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70C7AC-6CC9-BF13-6E43-82051A2CD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575D7CA0-D95A-0D0E-5DF2-B1558F7E429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AE5FE0-21F2-7A38-CFD0-1E9D8765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GB" dirty="0"/>
              <a:t>Fuel Delivery Certificate</a:t>
            </a:r>
            <a:br>
              <a:rPr lang="en-GB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685F83-130B-85A0-AC05-440D406C1056}"/>
              </a:ext>
            </a:extLst>
          </p:cNvPr>
          <p:cNvSpPr txBox="1"/>
          <p:nvPr/>
        </p:nvSpPr>
        <p:spPr>
          <a:xfrm>
            <a:off x="0" y="1574726"/>
            <a:ext cx="7485166" cy="34790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mandatory to fill a fuel delivery certificate as per the law in UK.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contains all the information about: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Supplier and customer details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Identification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Quantity Delivered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 and time of Delivery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 &amp; Regulatory Compliance Information</a:t>
            </a: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BFDF8-A0B5-56A5-3530-8263AAE65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32108" y="386245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3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0EB78D-F54A-F573-B9EC-BA93363D3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533" y="779781"/>
            <a:ext cx="4248742" cy="5992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134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137EE3-E979-C5EA-DB7E-5B2F58A3F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18449197-A522-23DA-AD73-44DEEEE9BAE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C1BCBA-B96B-9358-E2AA-FB55AFF6A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GB" sz="5400" dirty="0"/>
              <a:t>Quantity Delivered</a:t>
            </a:r>
            <a:br>
              <a:rPr lang="en-GB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71E22-586B-DA5D-BC03-51C2C521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8944" y="108374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4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4EA443-DB5E-0552-9AAD-5CF2523582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1043" y="467573"/>
            <a:ext cx="4625741" cy="32387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8D2D2EA-D9F1-490E-4CBB-BAA180AA911F}"/>
              </a:ext>
            </a:extLst>
          </p:cNvPr>
          <p:cNvSpPr txBox="1"/>
          <p:nvPr/>
        </p:nvSpPr>
        <p:spPr>
          <a:xfrm>
            <a:off x="501445" y="1828800"/>
            <a:ext cx="448791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related to the quantity of the fuel must be filled manually in the certificate.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get this information from Veeder Root available at the station.</a:t>
            </a: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 descr="A white machine with a black label&#10;&#10;AI-generated content may be incorrect.">
            <a:extLst>
              <a:ext uri="{FF2B5EF4-FFF2-40B4-BE49-F238E27FC236}">
                <a16:creationId xmlns:a16="http://schemas.microsoft.com/office/drawing/2014/main" id="{5C91CAD7-B7BB-4967-5EB8-0CB1843A49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6753" y="4059627"/>
            <a:ext cx="3554319" cy="2439496"/>
          </a:xfrm>
          <a:prstGeom prst="rect">
            <a:avLst/>
          </a:prstGeom>
        </p:spPr>
      </p:pic>
      <p:pic>
        <p:nvPicPr>
          <p:cNvPr id="12" name="Picture 11" descr="A close-up of a receipt&#10;&#10;AI-generated content may be incorrect.">
            <a:extLst>
              <a:ext uri="{FF2B5EF4-FFF2-40B4-BE49-F238E27FC236}">
                <a16:creationId xmlns:a16="http://schemas.microsoft.com/office/drawing/2014/main" id="{2F4DD2DE-E538-C5FC-CA28-D6CFD8482F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691" y="819150"/>
            <a:ext cx="2105025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884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BFBB4E-797E-CA35-8787-C9E5514F3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AB3EAA38-8959-B791-F6D8-883636B6819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55466C-86D7-7178-CE32-B90CCD12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GB" sz="5400" dirty="0"/>
              <a:t>Problem Statement</a:t>
            </a:r>
            <a:br>
              <a:rPr lang="en-GB" sz="5400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B19ABB-2300-2A12-9297-829B96670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2252" y="360299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5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AC4AD0-32D5-3B85-738C-799D927C5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776" y="3445442"/>
            <a:ext cx="5664927" cy="305225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92FBD61-44B0-7365-92D8-A0EDE5AB03AC}"/>
              </a:ext>
            </a:extLst>
          </p:cNvPr>
          <p:cNvSpPr/>
          <p:nvPr/>
        </p:nvSpPr>
        <p:spPr>
          <a:xfrm>
            <a:off x="5230849" y="4573444"/>
            <a:ext cx="933651" cy="1328286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E666E3-9BF6-A2CB-A9F3-A8D284385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820" y="3394908"/>
            <a:ext cx="4625741" cy="32387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BAEE650-EB4E-956E-6529-58A023902AFE}"/>
              </a:ext>
            </a:extLst>
          </p:cNvPr>
          <p:cNvSpPr txBox="1"/>
          <p:nvPr/>
        </p:nvSpPr>
        <p:spPr>
          <a:xfrm>
            <a:off x="390460" y="1204506"/>
            <a:ext cx="10028158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information from the Veeder Root should be digitalized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automation, It will reduce the chance of error when entering the data into data base.</a:t>
            </a:r>
          </a:p>
        </p:txBody>
      </p:sp>
    </p:spTree>
    <p:extLst>
      <p:ext uri="{BB962C8B-B14F-4D97-AF65-F5344CB8AC3E}">
        <p14:creationId xmlns:p14="http://schemas.microsoft.com/office/powerpoint/2010/main" val="3863558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51FF7-4800-70E4-D9C5-9C24DA4F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F465CFD5-FF16-8F9A-55E5-34EDEB3371D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ADF362-FFE1-3907-45DB-61A083C63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MNIST Data Set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C2A13-AD8B-401A-5D78-E893A30B6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32108" y="520324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6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21C899-AB9F-5508-F447-CF1461E4B2D2}"/>
              </a:ext>
            </a:extLst>
          </p:cNvPr>
          <p:cNvSpPr txBox="1"/>
          <p:nvPr/>
        </p:nvSpPr>
        <p:spPr>
          <a:xfrm>
            <a:off x="331763" y="1291472"/>
            <a:ext cx="1116893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MNIST(Modified National institute of Standards and Technology) is a large data contains 70,000(60,000 training images and 10,000 testing images) grayscale images of digits 0 to 9.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 taken from American census bureau employees(Training data set) and American High School(Test data set) normalized into a 28X28 pixel which introduced grayscale level.</a:t>
            </a:r>
          </a:p>
          <a:p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</a:t>
            </a:r>
            <a:r>
              <a:rPr lang="en-US" sz="2500" u="sng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https://en.wikipedia.org/wiki/MNIST_database</a:t>
            </a:r>
            <a:endParaRPr lang="en-US" sz="2500" u="sng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674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8AC1A5-3C3B-ECE5-A550-C3085C4A1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6E7BC9F5-8921-52A8-B823-415431E30E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BB814C-1F92-A901-27E6-6775EF1E4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Data Visualization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7C3F4-6823-E43C-9675-692CEE91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5118" y="520324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7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51EAC3-120D-F0A4-0888-1D15615E4BD8}"/>
              </a:ext>
            </a:extLst>
          </p:cNvPr>
          <p:cNvSpPr txBox="1"/>
          <p:nvPr/>
        </p:nvSpPr>
        <p:spPr>
          <a:xfrm>
            <a:off x="331763" y="1291472"/>
            <a:ext cx="11168939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row has a value and its corresponding 28*28-pixel information as a row vector.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second row when visualized according to pixel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intensity, appears as shown in the image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0B02FE-4509-4291-55ED-F6606266D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476" y="2695076"/>
            <a:ext cx="3705225" cy="391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775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F679C-11DD-E674-741C-71C8B4043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45E253DB-BCF8-A8D5-0C05-1445DB07081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D5146C-5909-5852-EA55-02A5D1406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Cont.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2736C4-C39D-5607-4916-2276D48C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4729" y="442477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8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EEB865-A30E-82B2-1ECE-FD9DF6059A82}"/>
              </a:ext>
            </a:extLst>
          </p:cNvPr>
          <p:cNvSpPr txBox="1"/>
          <p:nvPr/>
        </p:nvSpPr>
        <p:spPr>
          <a:xfrm>
            <a:off x="331763" y="1291472"/>
            <a:ext cx="11168939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visualization of first 30 rows appears as shown in the image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9B5013-65DD-D482-E463-DA784EC64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63" y="2259212"/>
            <a:ext cx="11258550" cy="443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413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0B756F-6A82-0E9D-2617-DFC5B6281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A79A44F4-3B98-03CE-1D8D-3DF94BCD8DE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BAF9B6-71E6-195B-88AC-E751BD2E0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Cont.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E94D3-AE8B-71FC-AF12-7C9DED6C5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5118" y="450977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9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C06854-0678-5ED7-E815-45B011023E34}"/>
              </a:ext>
            </a:extLst>
          </p:cNvPr>
          <p:cNvSpPr txBox="1"/>
          <p:nvPr/>
        </p:nvSpPr>
        <p:spPr>
          <a:xfrm>
            <a:off x="331763" y="1291472"/>
            <a:ext cx="11168939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visualization of average of the information appears as below: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C61DB7-9C08-05CC-583B-63C8AF11C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044" y="2602932"/>
            <a:ext cx="7921853" cy="383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72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DA06DC-14E7-D4D9-4FBD-7D9E3C6DB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4931DFD8-BCF3-07B3-E939-0AA215FEBEC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814DA1C-1FBE-534A-445F-C878D5DBA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N" b="1" dirty="0">
                <a:effectLst/>
              </a:rPr>
              <a:t>Navie Bayes Classifier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9BBAA-0598-64ED-0D07-2B4AF9658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2108" y="450977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10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CB8853-0F5A-600F-D9C1-3527E272BEDC}"/>
              </a:ext>
            </a:extLst>
          </p:cNvPr>
          <p:cNvSpPr txBox="1"/>
          <p:nvPr/>
        </p:nvSpPr>
        <p:spPr>
          <a:xfrm>
            <a:off x="331762" y="1106898"/>
            <a:ext cx="10594855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Confusion Matrix and the accuracy appears as below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Observations: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505EB-994F-409C-EBA5-7151B048E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7136" y="2066277"/>
            <a:ext cx="5353158" cy="47304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6C97228-67DE-99B3-DE96-3B5023F8F4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06" y="2193150"/>
            <a:ext cx="6581775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92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96A4BA-A30F-6710-BAE3-D8607D57C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F54D635-E39F-CB23-0862-1308E34D9FE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6872748" y="2102696"/>
            <a:ext cx="4795627" cy="42378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EB3646-F175-D9E6-FDE8-F0A9CBADDC7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208726" y="2124364"/>
            <a:ext cx="6103644" cy="4151538"/>
          </a:xfrm>
          <a:prstGeom prst="rect">
            <a:avLst/>
          </a:prstGeom>
        </p:spPr>
      </p:pic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3FE32D3C-17FB-F1AB-8815-C42870E7F14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39595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373935-E51E-3C0A-E9E3-46D90EE6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Observations.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BD57D-8E06-667B-33B5-001574D8E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7208" y="664275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11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D8C6A9-4393-A0CE-F1C9-235D99DBEFE1}"/>
              </a:ext>
            </a:extLst>
          </p:cNvPr>
          <p:cNvSpPr txBox="1"/>
          <p:nvPr/>
        </p:nvSpPr>
        <p:spPr>
          <a:xfrm>
            <a:off x="208725" y="1393072"/>
            <a:ext cx="1186021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accuracy of the model is 76.82%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0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0.89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8 or 6  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1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0.95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8  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2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0.62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8 or 6 or 3  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3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0.72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8 or 9 or 2 or 1    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4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0.58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9    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5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0.52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8 or 3 or 9    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6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0.93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8    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7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0.75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9 or 4    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8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0.71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9 or 1  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 9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identified correctly with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0.90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very few cases it was read as 7 or 4  </a:t>
            </a:r>
          </a:p>
          <a:p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705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4E4118-BE0D-7F2D-E8C8-0DF72573C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EC5A83EA-F8E4-E5F1-3B9D-C453C33B7D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5463EC-F513-B69C-18BC-6836C6B8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IN" b="1" dirty="0">
                <a:effectLst/>
              </a:rPr>
              <a:t>Gaussian classifier</a:t>
            </a:r>
            <a:br>
              <a:rPr lang="en-IN" dirty="0">
                <a:effectLst/>
              </a:rPr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01A470-2E24-4FE8-5008-A2EE43FFE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8684" y="406029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12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9FADED-A0A8-12B4-CF50-F9A70542A91B}"/>
              </a:ext>
            </a:extLst>
          </p:cNvPr>
          <p:cNvSpPr txBox="1"/>
          <p:nvPr/>
        </p:nvSpPr>
        <p:spPr>
          <a:xfrm>
            <a:off x="208725" y="1032142"/>
            <a:ext cx="1116893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accuracy of the model is 93.06%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Confusion Matrix and the accuracy appears as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9ED9AE-CC6F-6E4E-A55B-4169B08649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112" y="2205139"/>
            <a:ext cx="5009163" cy="44265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B9D938-B340-FA51-0EEE-790601EF60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725" y="2180021"/>
            <a:ext cx="6581775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2527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7BBE6C-942E-33A9-F7BD-427C69A03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EBFECA99-1887-CC62-EE87-8BDB0D3EDBC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8DAB9B-36F8-139F-FFA1-6EAADE4A7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N" b="1" dirty="0">
                <a:effectLst/>
              </a:rPr>
              <a:t>K Nearest Neighbours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4AA0C-470A-C2C7-0E37-ACF5FFAD7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5118" y="337761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13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32B48-BC00-F28A-D26F-DDE3CBD4D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2134" y="2153676"/>
            <a:ext cx="4834151" cy="43348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576CE28-A67A-BB2B-2459-70993C80196E}"/>
              </a:ext>
            </a:extLst>
          </p:cNvPr>
          <p:cNvSpPr txBox="1"/>
          <p:nvPr/>
        </p:nvSpPr>
        <p:spPr>
          <a:xfrm>
            <a:off x="540773" y="1291902"/>
            <a:ext cx="902601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accuracy of the model is 96.32%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Confusion Matrix and the accuracy appears as below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21F368C-571C-B3A4-FF0C-AAB58D8483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004" y="2153676"/>
            <a:ext cx="6581775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899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561DB8-192C-1379-6E4F-47E77DC25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D2F12D61-5E7E-94B1-4AFD-5BF5E40B685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AFEF60-B89A-5E5C-0679-D85FB499A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4A0AA-2CCB-25D2-D6C2-99C1279F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5118" y="520324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14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0F166E-8F24-0F10-63C6-8966AFE46D1F}"/>
              </a:ext>
            </a:extLst>
          </p:cNvPr>
          <p:cNvSpPr txBox="1"/>
          <p:nvPr/>
        </p:nvSpPr>
        <p:spPr>
          <a:xfrm>
            <a:off x="105621" y="1029196"/>
            <a:ext cx="12191980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digitalization of fuel certificate can be achieved using MNIST data 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accuracy of the digitalization depends on the model we choose, and the accuracy of various model is shown below. 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15CA3C-FE44-793A-F9E2-48A21B24D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980" y="2318702"/>
            <a:ext cx="5562600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088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23B8EE-FEC6-6821-4E95-B3212F73C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113D75BD-0B74-0579-89FF-86FCAEA7F08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E7A680-635D-E3E7-625B-6CF05EC1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114300"/>
            <a:ext cx="9905998" cy="140360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Cont.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4B0BF-9172-B4E0-4640-E30CA5910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5118" y="520324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15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734138-FA37-8E37-FFEC-972C1A455323}"/>
              </a:ext>
            </a:extLst>
          </p:cNvPr>
          <p:cNvSpPr txBox="1"/>
          <p:nvPr/>
        </p:nvSpPr>
        <p:spPr>
          <a:xfrm>
            <a:off x="105621" y="1029196"/>
            <a:ext cx="12191980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Accuracy of identifying each digit with every model is as below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621267-AC92-CD9A-BB84-9A6A792A6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770" y="1978445"/>
            <a:ext cx="8381682" cy="476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088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648F8C-C92F-71BE-CA0B-825774078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BEEC1889-CD45-78EC-E594-8245EAC05F4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46880-505E-6A2B-9067-A1223D9E0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2380" y="588899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16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140C8D-2ED9-FB91-B43B-A8E6B4BB646E}"/>
              </a:ext>
            </a:extLst>
          </p:cNvPr>
          <p:cNvSpPr txBox="1"/>
          <p:nvPr/>
        </p:nvSpPr>
        <p:spPr>
          <a:xfrm>
            <a:off x="624371" y="588899"/>
            <a:ext cx="10476445" cy="93918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</a:t>
            </a:r>
          </a:p>
          <a:p>
            <a:pPr algn="ctr"/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b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b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1040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3B51C6-E9EC-AB0D-7FA9-ECE1FEC7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0F0E210B-48A0-C2CC-DD2A-3B799E3F09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68DF7-46E8-01E8-77D6-FAD7DAF71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9292" y="539252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17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F667FC-661D-FD69-78B5-63B1CDC59C12}"/>
              </a:ext>
            </a:extLst>
          </p:cNvPr>
          <p:cNvSpPr txBox="1"/>
          <p:nvPr/>
        </p:nvSpPr>
        <p:spPr>
          <a:xfrm>
            <a:off x="511520" y="2288168"/>
            <a:ext cx="111689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2357477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EF0247-567A-C2D9-0695-6357F0E8A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ruck on the road&#10;&#10;AI-generated content may be incorrect.">
            <a:extLst>
              <a:ext uri="{FF2B5EF4-FFF2-40B4-BE49-F238E27FC236}">
                <a16:creationId xmlns:a16="http://schemas.microsoft.com/office/drawing/2014/main" id="{E54F787C-91CA-1C93-3CDD-9665F8217F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8" b="172"/>
          <a:stretch>
            <a:fillRect/>
          </a:stretch>
        </p:blipFill>
        <p:spPr>
          <a:xfrm>
            <a:off x="0" y="-114290"/>
            <a:ext cx="12191980" cy="685799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371A5-0209-23AB-27D4-E268ED0E3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9292" y="539252"/>
            <a:ext cx="5511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9590046-DA73-4BBF-84B5-C08E6F75191A}" type="slidenum">
              <a:rPr lang="en-US">
                <a:solidFill>
                  <a:prstClr val="white">
                    <a:lumMod val="75000"/>
                  </a:prstClr>
                </a:solidFill>
              </a:rPr>
              <a:pPr defTabSz="914400">
                <a:spcAft>
                  <a:spcPts val="600"/>
                </a:spcAft>
              </a:pPr>
              <a:t>18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86F74-ECE6-45CB-616B-A24AFED14CD6}"/>
              </a:ext>
            </a:extLst>
          </p:cNvPr>
          <p:cNvSpPr txBox="1"/>
          <p:nvPr/>
        </p:nvSpPr>
        <p:spPr>
          <a:xfrm>
            <a:off x="-629022" y="-71264"/>
            <a:ext cx="111689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Information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27288A-538B-BFD2-BC61-BF7A97DC27E2}"/>
                  </a:ext>
                </a:extLst>
              </p:cNvPr>
              <p:cNvSpPr txBox="1"/>
              <p:nvPr/>
            </p:nvSpPr>
            <p:spPr>
              <a:xfrm>
                <a:off x="275303" y="1750142"/>
                <a:ext cx="11168939" cy="28169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Volume of fuel is function of pressure and Temperature.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𝑣𝑜𝑙𝑢𝑚𝑒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)∝</m:t>
                      </m:r>
                      <m:f>
                        <m:fPr>
                          <m:ctrlP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𝑇𝑒𝑚𝑝𝑒𝑟𝑎𝑡𝑢𝑟𝑒</m:t>
                          </m:r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𝑃𝑟𝑒𝑠𝑠𝑢𝑟𝑒</m:t>
                          </m:r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IN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:endParaRPr lang="en-IN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IN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 are 10 classifications here. To avoid ambiguity during KNN, K should not be a multiple of 10. Higher value of K can overfit the model and very low value of K can underfit the model.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27288A-538B-BFD2-BC61-BF7A97DC27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303" y="1750142"/>
                <a:ext cx="11168939" cy="2816925"/>
              </a:xfrm>
              <a:prstGeom prst="rect">
                <a:avLst/>
              </a:prstGeom>
              <a:blipFill>
                <a:blip r:embed="rId4"/>
                <a:stretch>
                  <a:fillRect l="-764" t="-1732" r="-1365" b="-411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27842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0</TotalTime>
  <Words>723</Words>
  <Application>Microsoft Office PowerPoint</Application>
  <PresentationFormat>Widescreen</PresentationFormat>
  <Paragraphs>113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Cambria Math</vt:lpstr>
      <vt:lpstr>Century Gothic</vt:lpstr>
      <vt:lpstr>Times New Roman</vt:lpstr>
      <vt:lpstr>Mesh</vt:lpstr>
      <vt:lpstr>PowerPoint Presentation</vt:lpstr>
      <vt:lpstr>Agenda</vt:lpstr>
      <vt:lpstr>Fuel Delivery Certificate </vt:lpstr>
      <vt:lpstr>Quantity Delivered </vt:lpstr>
      <vt:lpstr>Problem Statement </vt:lpstr>
      <vt:lpstr>MNIST Data Set</vt:lpstr>
      <vt:lpstr>Data Visualization</vt:lpstr>
      <vt:lpstr>Cont.</vt:lpstr>
      <vt:lpstr>Cont.</vt:lpstr>
      <vt:lpstr>Navie Bayes Classifier</vt:lpstr>
      <vt:lpstr>Observations.</vt:lpstr>
      <vt:lpstr>Gaussian classifier </vt:lpstr>
      <vt:lpstr>K Nearest Neighbours.</vt:lpstr>
      <vt:lpstr>Conclusion</vt:lpstr>
      <vt:lpstr>Cont.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Pradeep Mandapati</dc:creator>
  <cp:lastModifiedBy>Pradeep Mandapati</cp:lastModifiedBy>
  <cp:revision>16</cp:revision>
  <dcterms:created xsi:type="dcterms:W3CDTF">2025-11-09T20:07:48Z</dcterms:created>
  <dcterms:modified xsi:type="dcterms:W3CDTF">2025-11-10T11:39:36Z</dcterms:modified>
</cp:coreProperties>
</file>